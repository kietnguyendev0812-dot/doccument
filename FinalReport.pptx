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82" r:id="rId4"/>
    <p:sldId id="262" r:id="rId5"/>
    <p:sldId id="275" r:id="rId6"/>
    <p:sldId id="284" r:id="rId7"/>
    <p:sldId id="276" r:id="rId8"/>
    <p:sldId id="277" r:id="rId9"/>
    <p:sldId id="283" r:id="rId10"/>
    <p:sldId id="278" r:id="rId11"/>
    <p:sldId id="286" r:id="rId12"/>
    <p:sldId id="285" r:id="rId13"/>
    <p:sldId id="280" r:id="rId14"/>
    <p:sldId id="274" r:id="rId15"/>
  </p:sldIdLst>
  <p:sldSz cx="18288000" cy="10287000"/>
  <p:notesSz cx="6858000" cy="9144000"/>
  <p:embeddedFontLst>
    <p:embeddedFont>
      <p:font typeface="Saira" panose="020B0604020202020204" charset="0"/>
      <p:regular r:id="rId16"/>
    </p:embeddedFont>
    <p:embeddedFont>
      <p:font typeface="Saira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et Nguyen" initials="KN" lastIdx="1" clrIdx="0">
    <p:extLst>
      <p:ext uri="{19B8F6BF-5375-455C-9EA6-DF929625EA0E}">
        <p15:presenceInfo xmlns:p15="http://schemas.microsoft.com/office/powerpoint/2012/main" userId="3d5a399c74d3d61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0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blue paint splotch"/>
          <p:cNvSpPr/>
          <p:nvPr/>
        </p:nvSpPr>
        <p:spPr>
          <a:xfrm>
            <a:off x="3794905" y="429610"/>
            <a:ext cx="10698188" cy="9427779"/>
          </a:xfrm>
          <a:custGeom>
            <a:avLst/>
            <a:gdLst/>
            <a:ahLst/>
            <a:cxnLst/>
            <a:rect l="l" t="t" r="r" b="b"/>
            <a:pathLst>
              <a:path w="10698188" h="9427779">
                <a:moveTo>
                  <a:pt x="0" y="0"/>
                </a:moveTo>
                <a:lnTo>
                  <a:pt x="10698188" y="0"/>
                </a:lnTo>
                <a:lnTo>
                  <a:pt x="10698188" y="9427778"/>
                </a:lnTo>
                <a:lnTo>
                  <a:pt x="0" y="9427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302205" y="2187713"/>
            <a:ext cx="11683589" cy="5911575"/>
            <a:chOff x="0" y="0"/>
            <a:chExt cx="3497846" cy="1769814"/>
          </a:xfrm>
        </p:grpSpPr>
        <p:sp>
          <p:nvSpPr>
            <p:cNvPr id="4" name="Freeform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3497846" cy="1769814"/>
            </a:xfrm>
            <a:custGeom>
              <a:avLst/>
              <a:gdLst/>
              <a:ahLst/>
              <a:cxnLst/>
              <a:rect l="l" t="t" r="r" b="b"/>
              <a:pathLst>
                <a:path w="3497846" h="1769814">
                  <a:moveTo>
                    <a:pt x="0" y="0"/>
                  </a:moveTo>
                  <a:lnTo>
                    <a:pt x="0" y="1769814"/>
                  </a:lnTo>
                  <a:lnTo>
                    <a:pt x="3497846" y="1769814"/>
                  </a:lnTo>
                  <a:lnTo>
                    <a:pt x="3497846" y="0"/>
                  </a:lnTo>
                  <a:lnTo>
                    <a:pt x="0" y="0"/>
                  </a:lnTo>
                  <a:close/>
                  <a:moveTo>
                    <a:pt x="3436886" y="1708854"/>
                  </a:moveTo>
                  <a:lnTo>
                    <a:pt x="59690" y="1708854"/>
                  </a:lnTo>
                  <a:lnTo>
                    <a:pt x="59690" y="59690"/>
                  </a:lnTo>
                  <a:lnTo>
                    <a:pt x="3436886" y="59690"/>
                  </a:lnTo>
                  <a:lnTo>
                    <a:pt x="3436886" y="170885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4046959" y="2400300"/>
            <a:ext cx="10194080" cy="2333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999" b="1" spc="223" dirty="0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Final Internship Report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162D64-27FE-6ADD-8069-0CA66C8721B0}"/>
              </a:ext>
            </a:extLst>
          </p:cNvPr>
          <p:cNvSpPr txBox="1"/>
          <p:nvPr/>
        </p:nvSpPr>
        <p:spPr>
          <a:xfrm>
            <a:off x="6819899" y="5007393"/>
            <a:ext cx="464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Submitted by </a:t>
            </a:r>
            <a:r>
              <a:rPr lang="en-US" sz="2400" b="1" dirty="0" err="1"/>
              <a:t>Nguyễn</a:t>
            </a:r>
            <a:r>
              <a:rPr lang="en-US" sz="2400" b="1" dirty="0"/>
              <a:t> </a:t>
            </a:r>
            <a:r>
              <a:rPr lang="en-US" sz="2400" b="1" dirty="0" err="1"/>
              <a:t>Đăng</a:t>
            </a:r>
            <a:r>
              <a:rPr lang="en-US" sz="2400" b="1" dirty="0"/>
              <a:t> Bá </a:t>
            </a:r>
            <a:r>
              <a:rPr lang="en-US" sz="2400" b="1" dirty="0" err="1"/>
              <a:t>Kiệt</a:t>
            </a:r>
            <a:endParaRPr 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3DAAC5-1EAD-B3DA-E31F-4357E8453477}"/>
              </a:ext>
            </a:extLst>
          </p:cNvPr>
          <p:cNvSpPr txBox="1"/>
          <p:nvPr/>
        </p:nvSpPr>
        <p:spPr>
          <a:xfrm>
            <a:off x="6819899" y="5587721"/>
            <a:ext cx="464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Batch 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2116" y="2182693"/>
            <a:ext cx="7261733" cy="5716996"/>
            <a:chOff x="0" y="0"/>
            <a:chExt cx="3730237" cy="2936730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3730237" cy="2936730"/>
            </a:xfrm>
            <a:custGeom>
              <a:avLst/>
              <a:gdLst/>
              <a:ahLst/>
              <a:cxnLst/>
              <a:rect l="l" t="t" r="r" b="b"/>
              <a:pathLst>
                <a:path w="3730237" h="2936730">
                  <a:moveTo>
                    <a:pt x="0" y="0"/>
                  </a:moveTo>
                  <a:lnTo>
                    <a:pt x="0" y="2936730"/>
                  </a:lnTo>
                  <a:lnTo>
                    <a:pt x="3730237" y="2936730"/>
                  </a:lnTo>
                  <a:lnTo>
                    <a:pt x="3730237" y="0"/>
                  </a:lnTo>
                  <a:lnTo>
                    <a:pt x="0" y="0"/>
                  </a:lnTo>
                  <a:close/>
                  <a:moveTo>
                    <a:pt x="3669277" y="2875770"/>
                  </a:moveTo>
                  <a:lnTo>
                    <a:pt x="59690" y="2875770"/>
                  </a:lnTo>
                  <a:lnTo>
                    <a:pt x="59690" y="59690"/>
                  </a:lnTo>
                  <a:lnTo>
                    <a:pt x="3669277" y="59690"/>
                  </a:lnTo>
                  <a:lnTo>
                    <a:pt x="3669277" y="287577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Freeform 4" descr="a red paint splotch"/>
          <p:cNvSpPr/>
          <p:nvPr/>
        </p:nvSpPr>
        <p:spPr>
          <a:xfrm rot="-86879">
            <a:off x="30041" y="5070442"/>
            <a:ext cx="9149632" cy="2493275"/>
          </a:xfrm>
          <a:custGeom>
            <a:avLst/>
            <a:gdLst/>
            <a:ahLst/>
            <a:cxnLst/>
            <a:rect l="l" t="t" r="r" b="b"/>
            <a:pathLst>
              <a:path w="9149632" h="2493275">
                <a:moveTo>
                  <a:pt x="0" y="0"/>
                </a:moveTo>
                <a:lnTo>
                  <a:pt x="9149632" y="0"/>
                </a:lnTo>
                <a:lnTo>
                  <a:pt x="9149632" y="2493274"/>
                </a:lnTo>
                <a:lnTo>
                  <a:pt x="0" y="2493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47147" y="3715994"/>
            <a:ext cx="6757033" cy="241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7200" b="1" dirty="0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Table of contents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11477" y="2388176"/>
            <a:ext cx="6009723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550"/>
              </a:lnSpc>
              <a:spcBef>
                <a:spcPct val="0"/>
              </a:spcBef>
            </a:pPr>
            <a:r>
              <a:rPr lang="en-US" sz="3500" u="sng" dirty="0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  <a:hlinkClick r:id="rId3" action="ppaction://hlinksldjump"/>
              </a:rPr>
              <a:t>Requirements of the projects</a:t>
            </a:r>
            <a:endParaRPr lang="en-US" sz="3500" u="sng" dirty="0">
              <a:solidFill>
                <a:srgbClr val="000000"/>
              </a:solidFill>
              <a:latin typeface="Saira"/>
              <a:ea typeface="Saira"/>
              <a:cs typeface="Saira"/>
              <a:sym typeface="Saira"/>
              <a:hlinkClick r:id="rId4" action="ppaction://hlinksldjump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211477" y="4057451"/>
            <a:ext cx="5303985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50"/>
              </a:lnSpc>
              <a:spcBef>
                <a:spcPct val="0"/>
              </a:spcBef>
            </a:pPr>
            <a:r>
              <a:rPr lang="en-US" sz="3500" u="sng" dirty="0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  <a:hlinkClick r:id="rId5" action="ppaction://hlinksldjump"/>
              </a:rPr>
              <a:t>Key deliverables</a:t>
            </a:r>
            <a:endParaRPr lang="en-US" sz="3500" u="sng" dirty="0">
              <a:solidFill>
                <a:srgbClr val="000000"/>
              </a:solidFill>
              <a:latin typeface="Saira"/>
              <a:ea typeface="Saira"/>
              <a:cs typeface="Saira"/>
              <a:sym typeface="Saira"/>
              <a:hlinkClick r:id="rId6" action="ppaction://hlinksldjump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211477" y="5831958"/>
            <a:ext cx="3723723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550"/>
              </a:lnSpc>
              <a:spcBef>
                <a:spcPct val="0"/>
              </a:spcBef>
            </a:pPr>
            <a:r>
              <a:rPr lang="en-US" sz="3500" u="sng" dirty="0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  <a:hlinkClick r:id="rId7" action="ppaction://hlinksldjump"/>
              </a:rPr>
              <a:t>Results</a:t>
            </a:r>
            <a:endParaRPr lang="en-US" sz="3500" u="sng" dirty="0">
              <a:solidFill>
                <a:srgbClr val="000000"/>
              </a:solidFill>
              <a:latin typeface="Saira"/>
              <a:ea typeface="Saira"/>
              <a:cs typeface="Saira"/>
              <a:sym typeface="Saira"/>
              <a:hlinkClick r:id="" action="ppaction://noactio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211477" y="7598064"/>
            <a:ext cx="5303985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50"/>
              </a:lnSpc>
              <a:spcBef>
                <a:spcPct val="0"/>
              </a:spcBef>
            </a:pPr>
            <a:r>
              <a:rPr lang="en-US" sz="3500" u="sng" dirty="0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  <a:hlinkClick r:id="rId8" action="ppaction://hlinksldjump"/>
              </a:rPr>
              <a:t>Lessons learnt</a:t>
            </a:r>
            <a:endParaRPr lang="en-US" sz="3500" u="sng" dirty="0">
              <a:solidFill>
                <a:srgbClr val="000000"/>
              </a:solidFill>
              <a:latin typeface="Saira"/>
              <a:ea typeface="Saira"/>
              <a:cs typeface="Saira"/>
              <a:sym typeface="Saira"/>
              <a:hlinkClick r:id="" action="ppaction://noactio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930825" y="2460061"/>
            <a:ext cx="473136" cy="411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1.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30825" y="4129336"/>
            <a:ext cx="473136" cy="411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2.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30825" y="5903844"/>
            <a:ext cx="473136" cy="411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3.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30825" y="7669950"/>
            <a:ext cx="473136" cy="411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4" descr="a yellow paint splotch">
            <a:extLst>
              <a:ext uri="{FF2B5EF4-FFF2-40B4-BE49-F238E27FC236}">
                <a16:creationId xmlns:a16="http://schemas.microsoft.com/office/drawing/2014/main" id="{0E2018A2-7644-4083-7C73-8AD08B131D3C}"/>
              </a:ext>
            </a:extLst>
          </p:cNvPr>
          <p:cNvSpPr/>
          <p:nvPr/>
        </p:nvSpPr>
        <p:spPr>
          <a:xfrm rot="21167577">
            <a:off x="3358160" y="568315"/>
            <a:ext cx="11019023" cy="8160964"/>
          </a:xfrm>
          <a:custGeom>
            <a:avLst/>
            <a:gdLst/>
            <a:ahLst/>
            <a:cxnLst/>
            <a:rect l="l" t="t" r="r" b="b"/>
            <a:pathLst>
              <a:path w="11019023" h="8160964">
                <a:moveTo>
                  <a:pt x="0" y="0"/>
                </a:moveTo>
                <a:lnTo>
                  <a:pt x="11019023" y="0"/>
                </a:lnTo>
                <a:lnTo>
                  <a:pt x="11019023" y="8160964"/>
                </a:lnTo>
                <a:lnTo>
                  <a:pt x="0" y="8160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5" name="Group 5">
            <a:extLst>
              <a:ext uri="{FF2B5EF4-FFF2-40B4-BE49-F238E27FC236}">
                <a16:creationId xmlns:a16="http://schemas.microsoft.com/office/drawing/2014/main" id="{E8189463-76F8-A38E-1400-0773413FDEEA}"/>
              </a:ext>
            </a:extLst>
          </p:cNvPr>
          <p:cNvGrpSpPr/>
          <p:nvPr/>
        </p:nvGrpSpPr>
        <p:grpSpPr>
          <a:xfrm>
            <a:off x="4327109" y="3771900"/>
            <a:ext cx="9633782" cy="3525109"/>
            <a:chOff x="0" y="996841"/>
            <a:chExt cx="12845043" cy="4700145"/>
          </a:xfrm>
        </p:grpSpPr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211E5429-4809-70E7-D2C6-DEF1D138C6CF}"/>
                </a:ext>
              </a:extLst>
            </p:cNvPr>
            <p:cNvSpPr txBox="1"/>
            <p:nvPr/>
          </p:nvSpPr>
          <p:spPr>
            <a:xfrm>
              <a:off x="0" y="996841"/>
              <a:ext cx="12845043" cy="25306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380"/>
                </a:lnSpc>
              </a:pPr>
              <a:r>
                <a:rPr lang="en-US" sz="6150" b="1" dirty="0">
                  <a:solidFill>
                    <a:srgbClr val="000000"/>
                  </a:solidFill>
                  <a:latin typeface="Saira Bold"/>
                  <a:ea typeface="Saira Bold"/>
                  <a:cs typeface="Saira Bold"/>
                  <a:sym typeface="Saira Bold"/>
                </a:rPr>
                <a:t>Requirements Of The Projects</a:t>
              </a:r>
            </a:p>
          </p:txBody>
        </p:sp>
        <p:sp>
          <p:nvSpPr>
            <p:cNvPr id="17" name="TextBox 7">
              <a:extLst>
                <a:ext uri="{FF2B5EF4-FFF2-40B4-BE49-F238E27FC236}">
                  <a16:creationId xmlns:a16="http://schemas.microsoft.com/office/drawing/2014/main" id="{982F8377-A021-D7E5-A870-7B1359A441A4}"/>
                </a:ext>
              </a:extLst>
            </p:cNvPr>
            <p:cNvSpPr txBox="1"/>
            <p:nvPr/>
          </p:nvSpPr>
          <p:spPr>
            <a:xfrm>
              <a:off x="0" y="4910446"/>
              <a:ext cx="12845043" cy="786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550"/>
                </a:lnSpc>
                <a:spcBef>
                  <a:spcPct val="0"/>
                </a:spcBef>
              </a:pPr>
              <a:endParaRPr lang="en-US" sz="3500" dirty="0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6152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112274" y="876300"/>
            <a:ext cx="16063452" cy="696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6600" b="1" dirty="0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Requirements of the projects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AB6BA-BBDA-C24F-17B8-6B83FD32125E}"/>
              </a:ext>
            </a:extLst>
          </p:cNvPr>
          <p:cNvSpPr txBox="1"/>
          <p:nvPr/>
        </p:nvSpPr>
        <p:spPr>
          <a:xfrm>
            <a:off x="1295400" y="2058769"/>
            <a:ext cx="594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1. Multi tenant management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FD5BFC-8C74-FDF0-83EA-DE987DE18846}"/>
              </a:ext>
            </a:extLst>
          </p:cNvPr>
          <p:cNvSpPr txBox="1"/>
          <p:nvPr/>
        </p:nvSpPr>
        <p:spPr>
          <a:xfrm>
            <a:off x="2209800" y="3174896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Objective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F9C9C1-C56E-E019-3F90-5D7BA31853A4}"/>
              </a:ext>
            </a:extLst>
          </p:cNvPr>
          <p:cNvSpPr txBox="1"/>
          <p:nvPr/>
        </p:nvSpPr>
        <p:spPr>
          <a:xfrm>
            <a:off x="2819400" y="3893134"/>
            <a:ext cx="152658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Build a multi-tenant API supporting multiple customer.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7E2C56-362B-CC20-66A4-49951551AADB}"/>
              </a:ext>
            </a:extLst>
          </p:cNvPr>
          <p:cNvSpPr txBox="1"/>
          <p:nvPr/>
        </p:nvSpPr>
        <p:spPr>
          <a:xfrm>
            <a:off x="2209800" y="4734483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Functional Requirements</a:t>
            </a:r>
            <a:endParaRPr lang="en-US" sz="28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C89642-E7ED-AA32-CED0-7CBD81941508}"/>
              </a:ext>
            </a:extLst>
          </p:cNvPr>
          <p:cNvSpPr txBox="1"/>
          <p:nvPr/>
        </p:nvSpPr>
        <p:spPr>
          <a:xfrm>
            <a:off x="2819400" y="5452721"/>
            <a:ext cx="1526581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kern="120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Tenant and user management.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Role, permission management.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Feature management.</a:t>
            </a:r>
            <a:endParaRPr lang="en-US" sz="2800" dirty="0">
              <a:latin typeface="+mj-lt"/>
              <a:cs typeface="Arial" panose="020B0604020202020204" pitchFamily="34" charset="0"/>
            </a:endParaRP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kern="120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Secure authentication. </a:t>
            </a:r>
            <a:endParaRPr lang="en-US" sz="2800" dirty="0">
              <a:effectLst/>
              <a:latin typeface="+mj-lt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D1B5C7-9476-D37A-B598-3D7A209F5451}"/>
              </a:ext>
            </a:extLst>
          </p:cNvPr>
          <p:cNvSpPr txBox="1"/>
          <p:nvPr/>
        </p:nvSpPr>
        <p:spPr>
          <a:xfrm>
            <a:off x="2209800" y="7264326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Non functional Requirements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74B5A4-FCC9-0260-1387-C34C0560D061}"/>
              </a:ext>
            </a:extLst>
          </p:cNvPr>
          <p:cNvSpPr txBox="1"/>
          <p:nvPr/>
        </p:nvSpPr>
        <p:spPr>
          <a:xfrm>
            <a:off x="2786743" y="7978287"/>
            <a:ext cx="1526581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+mj-lt"/>
                <a:cs typeface="Arial" panose="020B0604020202020204" pitchFamily="34" charset="0"/>
              </a:rPr>
              <a:t>Scalability and performance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  <a:cs typeface="Arial" panose="020B0604020202020204" pitchFamily="34" charset="0"/>
              </a:rPr>
              <a:t>Security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  <a:cs typeface="Arial" panose="020B0604020202020204" pitchFamily="34" charset="0"/>
              </a:rPr>
              <a:t>Maintainability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Observability</a:t>
            </a:r>
            <a:endParaRPr lang="en-US" sz="2800" dirty="0">
              <a:effectLst/>
              <a:latin typeface="+mj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112274" y="876300"/>
            <a:ext cx="16063452" cy="696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6600" b="1" dirty="0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Requirements of the projects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AB6BA-BBDA-C24F-17B8-6B83FD32125E}"/>
              </a:ext>
            </a:extLst>
          </p:cNvPr>
          <p:cNvSpPr txBox="1"/>
          <p:nvPr/>
        </p:nvSpPr>
        <p:spPr>
          <a:xfrm>
            <a:off x="1295400" y="2058769"/>
            <a:ext cx="594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2. AI Planning tool.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FD5BFC-8C74-FDF0-83EA-DE987DE18846}"/>
              </a:ext>
            </a:extLst>
          </p:cNvPr>
          <p:cNvSpPr txBox="1"/>
          <p:nvPr/>
        </p:nvSpPr>
        <p:spPr>
          <a:xfrm>
            <a:off x="2209800" y="3034706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Objective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F9C9C1-C56E-E019-3F90-5D7BA31853A4}"/>
              </a:ext>
            </a:extLst>
          </p:cNvPr>
          <p:cNvSpPr txBox="1"/>
          <p:nvPr/>
        </p:nvSpPr>
        <p:spPr>
          <a:xfrm>
            <a:off x="3046002" y="3782441"/>
            <a:ext cx="152658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Developed an automated project planning tool for interns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7E2C56-362B-CC20-66A4-49951551AADB}"/>
              </a:ext>
            </a:extLst>
          </p:cNvPr>
          <p:cNvSpPr txBox="1"/>
          <p:nvPr/>
        </p:nvSpPr>
        <p:spPr>
          <a:xfrm>
            <a:off x="2209800" y="4610074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Functional Requirements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C89642-E7ED-AA32-CED0-7CBD81941508}"/>
              </a:ext>
            </a:extLst>
          </p:cNvPr>
          <p:cNvSpPr txBox="1"/>
          <p:nvPr/>
        </p:nvSpPr>
        <p:spPr>
          <a:xfrm>
            <a:off x="3050764" y="5437707"/>
            <a:ext cx="1526581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kern="120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Role, user management.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Project plan management.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AI task allocation.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Exporting to excel.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D1B5C7-9476-D37A-B598-3D7A209F5451}"/>
              </a:ext>
            </a:extLst>
          </p:cNvPr>
          <p:cNvSpPr txBox="1"/>
          <p:nvPr/>
        </p:nvSpPr>
        <p:spPr>
          <a:xfrm>
            <a:off x="2209800" y="7343109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Non functional Requirements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74B5A4-FCC9-0260-1387-C34C0560D061}"/>
              </a:ext>
            </a:extLst>
          </p:cNvPr>
          <p:cNvSpPr txBox="1"/>
          <p:nvPr/>
        </p:nvSpPr>
        <p:spPr>
          <a:xfrm>
            <a:off x="3046002" y="8069292"/>
            <a:ext cx="1526581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+mj-lt"/>
                <a:cs typeface="Arial" panose="020B0604020202020204" pitchFamily="34" charset="0"/>
              </a:rPr>
              <a:t>Scalability and performance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  <a:cs typeface="Arial" panose="020B0604020202020204" pitchFamily="34" charset="0"/>
              </a:rPr>
              <a:t>Security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Accuracy </a:t>
            </a:r>
            <a:endParaRPr lang="en-US" sz="2800" dirty="0">
              <a:latin typeface="+mj-lt"/>
              <a:cs typeface="Arial" panose="020B0604020202020204" pitchFamily="34" charset="0"/>
            </a:endParaRP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Usability</a:t>
            </a:r>
            <a:endParaRPr lang="en-US" sz="2800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74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4" descr="a yellow paint splotch">
            <a:extLst>
              <a:ext uri="{FF2B5EF4-FFF2-40B4-BE49-F238E27FC236}">
                <a16:creationId xmlns:a16="http://schemas.microsoft.com/office/drawing/2014/main" id="{0E2018A2-7644-4083-7C73-8AD08B131D3C}"/>
              </a:ext>
            </a:extLst>
          </p:cNvPr>
          <p:cNvSpPr/>
          <p:nvPr/>
        </p:nvSpPr>
        <p:spPr>
          <a:xfrm rot="21167577">
            <a:off x="3358160" y="568315"/>
            <a:ext cx="11019023" cy="8160964"/>
          </a:xfrm>
          <a:custGeom>
            <a:avLst/>
            <a:gdLst/>
            <a:ahLst/>
            <a:cxnLst/>
            <a:rect l="l" t="t" r="r" b="b"/>
            <a:pathLst>
              <a:path w="11019023" h="8160964">
                <a:moveTo>
                  <a:pt x="0" y="0"/>
                </a:moveTo>
                <a:lnTo>
                  <a:pt x="11019023" y="0"/>
                </a:lnTo>
                <a:lnTo>
                  <a:pt x="11019023" y="8160964"/>
                </a:lnTo>
                <a:lnTo>
                  <a:pt x="0" y="8160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5" name="Group 5">
            <a:extLst>
              <a:ext uri="{FF2B5EF4-FFF2-40B4-BE49-F238E27FC236}">
                <a16:creationId xmlns:a16="http://schemas.microsoft.com/office/drawing/2014/main" id="{E8189463-76F8-A38E-1400-0773413FDEEA}"/>
              </a:ext>
            </a:extLst>
          </p:cNvPr>
          <p:cNvGrpSpPr/>
          <p:nvPr/>
        </p:nvGrpSpPr>
        <p:grpSpPr>
          <a:xfrm>
            <a:off x="4572000" y="4457700"/>
            <a:ext cx="9633782" cy="4279883"/>
            <a:chOff x="0" y="-9525"/>
            <a:chExt cx="12845043" cy="5706511"/>
          </a:xfrm>
        </p:grpSpPr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211E5429-4809-70E7-D2C6-DEF1D138C6CF}"/>
                </a:ext>
              </a:extLst>
            </p:cNvPr>
            <p:cNvSpPr txBox="1"/>
            <p:nvPr/>
          </p:nvSpPr>
          <p:spPr>
            <a:xfrm>
              <a:off x="0" y="-9525"/>
              <a:ext cx="12845043" cy="1265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380"/>
                </a:lnSpc>
              </a:pPr>
              <a:r>
                <a:rPr lang="en-US" sz="6150" b="1" dirty="0">
                  <a:solidFill>
                    <a:srgbClr val="000000"/>
                  </a:solidFill>
                  <a:latin typeface="Saira Bold"/>
                  <a:ea typeface="Saira Bold"/>
                  <a:cs typeface="Saira Bold"/>
                  <a:sym typeface="Saira Bold"/>
                </a:rPr>
                <a:t>Key Deliverables</a:t>
              </a:r>
            </a:p>
          </p:txBody>
        </p:sp>
        <p:sp>
          <p:nvSpPr>
            <p:cNvPr id="17" name="TextBox 7">
              <a:extLst>
                <a:ext uri="{FF2B5EF4-FFF2-40B4-BE49-F238E27FC236}">
                  <a16:creationId xmlns:a16="http://schemas.microsoft.com/office/drawing/2014/main" id="{982F8377-A021-D7E5-A870-7B1359A441A4}"/>
                </a:ext>
              </a:extLst>
            </p:cNvPr>
            <p:cNvSpPr txBox="1"/>
            <p:nvPr/>
          </p:nvSpPr>
          <p:spPr>
            <a:xfrm>
              <a:off x="0" y="4910446"/>
              <a:ext cx="12845043" cy="786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550"/>
                </a:lnSpc>
                <a:spcBef>
                  <a:spcPct val="0"/>
                </a:spcBef>
              </a:pPr>
              <a:endParaRPr lang="en-US" sz="3500" dirty="0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951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112274" y="876300"/>
            <a:ext cx="16063452" cy="696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6600" b="1" dirty="0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Key deliverables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AB6BA-BBDA-C24F-17B8-6B83FD32125E}"/>
              </a:ext>
            </a:extLst>
          </p:cNvPr>
          <p:cNvSpPr txBox="1"/>
          <p:nvPr/>
        </p:nvSpPr>
        <p:spPr>
          <a:xfrm>
            <a:off x="1295400" y="2058769"/>
            <a:ext cx="594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1. Multi tenant management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74B5A4-FCC9-0260-1387-C34C0560D061}"/>
              </a:ext>
            </a:extLst>
          </p:cNvPr>
          <p:cNvSpPr txBox="1"/>
          <p:nvPr/>
        </p:nvSpPr>
        <p:spPr>
          <a:xfrm>
            <a:off x="2514600" y="3182510"/>
            <a:ext cx="1526581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Architecture Layers.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Persistence and migration.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Tenant management module.</a:t>
            </a:r>
          </a:p>
          <a:p>
            <a:pPr marL="285750" indent="-285750" eaLnBrk="0" fontAlgn="base" hangingPunct="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  <a:cs typeface="Arial" panose="020B0604020202020204" pitchFamily="34" charset="0"/>
              </a:rPr>
              <a:t>Role, permission module.</a:t>
            </a:r>
            <a:endParaRPr lang="en-US" sz="2800" dirty="0"/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Authentication and authorization.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+mj-lt"/>
                <a:cs typeface="Arial" panose="020B0604020202020204" pitchFamily="34" charset="0"/>
              </a:rPr>
              <a:t>User management </a:t>
            </a:r>
            <a:r>
              <a:rPr lang="en-US" sz="2800" dirty="0">
                <a:latin typeface="+mj-lt"/>
                <a:cs typeface="Arial" panose="020B0604020202020204" pitchFamily="34" charset="0"/>
              </a:rPr>
              <a:t>m</a:t>
            </a:r>
            <a:r>
              <a:rPr lang="en-US" sz="2800" dirty="0">
                <a:effectLst/>
                <a:latin typeface="+mj-lt"/>
                <a:cs typeface="Arial" panose="020B0604020202020204" pitchFamily="34" charset="0"/>
              </a:rPr>
              <a:t>odule.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  <a:cs typeface="Arial" panose="020B0604020202020204" pitchFamily="34" charset="0"/>
              </a:rPr>
              <a:t>Logging, auditing, tracking object.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  <a:cs typeface="Arial" panose="020B0604020202020204" pitchFamily="34" charset="0"/>
              </a:rPr>
              <a:t>Performance, scaling strategy.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800" dirty="0">
              <a:effectLst/>
              <a:latin typeface="+mj-lt"/>
              <a:cs typeface="Arial" panose="020B0604020202020204" pitchFamily="34" charset="0"/>
            </a:endParaRP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800" dirty="0">
              <a:effectLst/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839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112274" y="876300"/>
            <a:ext cx="16063452" cy="696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6600" b="1" dirty="0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Key deliverables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AB6BA-BBDA-C24F-17B8-6B83FD32125E}"/>
              </a:ext>
            </a:extLst>
          </p:cNvPr>
          <p:cNvSpPr txBox="1"/>
          <p:nvPr/>
        </p:nvSpPr>
        <p:spPr>
          <a:xfrm>
            <a:off x="1295400" y="2058769"/>
            <a:ext cx="594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2. AI Planning tool.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C89642-E7ED-AA32-CED0-7CBD81941508}"/>
              </a:ext>
            </a:extLst>
          </p:cNvPr>
          <p:cNvSpPr txBox="1"/>
          <p:nvPr/>
        </p:nvSpPr>
        <p:spPr>
          <a:xfrm>
            <a:off x="2667000" y="3543300"/>
            <a:ext cx="1526581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System Architecture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Project Management Module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User Management Module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Authentication and Authorization.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AI Support Tool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Excel Export Module</a:t>
            </a:r>
          </a:p>
        </p:txBody>
      </p:sp>
    </p:spTree>
    <p:extLst>
      <p:ext uri="{BB962C8B-B14F-4D97-AF65-F5344CB8AC3E}">
        <p14:creationId xmlns:p14="http://schemas.microsoft.com/office/powerpoint/2010/main" val="1007276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4" descr="a yellow paint splotch">
            <a:extLst>
              <a:ext uri="{FF2B5EF4-FFF2-40B4-BE49-F238E27FC236}">
                <a16:creationId xmlns:a16="http://schemas.microsoft.com/office/drawing/2014/main" id="{0E2018A2-7644-4083-7C73-8AD08B131D3C}"/>
              </a:ext>
            </a:extLst>
          </p:cNvPr>
          <p:cNvSpPr/>
          <p:nvPr/>
        </p:nvSpPr>
        <p:spPr>
          <a:xfrm rot="21167577">
            <a:off x="3358160" y="568315"/>
            <a:ext cx="11019023" cy="8160964"/>
          </a:xfrm>
          <a:custGeom>
            <a:avLst/>
            <a:gdLst/>
            <a:ahLst/>
            <a:cxnLst/>
            <a:rect l="l" t="t" r="r" b="b"/>
            <a:pathLst>
              <a:path w="11019023" h="8160964">
                <a:moveTo>
                  <a:pt x="0" y="0"/>
                </a:moveTo>
                <a:lnTo>
                  <a:pt x="11019023" y="0"/>
                </a:lnTo>
                <a:lnTo>
                  <a:pt x="11019023" y="8160964"/>
                </a:lnTo>
                <a:lnTo>
                  <a:pt x="0" y="8160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5" name="Group 5">
            <a:extLst>
              <a:ext uri="{FF2B5EF4-FFF2-40B4-BE49-F238E27FC236}">
                <a16:creationId xmlns:a16="http://schemas.microsoft.com/office/drawing/2014/main" id="{E8189463-76F8-A38E-1400-0773413FDEEA}"/>
              </a:ext>
            </a:extLst>
          </p:cNvPr>
          <p:cNvGrpSpPr/>
          <p:nvPr/>
        </p:nvGrpSpPr>
        <p:grpSpPr>
          <a:xfrm>
            <a:off x="4191000" y="4615874"/>
            <a:ext cx="9769891" cy="2681134"/>
            <a:chOff x="-181479" y="2122140"/>
            <a:chExt cx="13026522" cy="3574846"/>
          </a:xfrm>
        </p:grpSpPr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211E5429-4809-70E7-D2C6-DEF1D138C6CF}"/>
                </a:ext>
              </a:extLst>
            </p:cNvPr>
            <p:cNvSpPr txBox="1"/>
            <p:nvPr/>
          </p:nvSpPr>
          <p:spPr>
            <a:xfrm>
              <a:off x="-181479" y="2122140"/>
              <a:ext cx="12845043" cy="1265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380"/>
                </a:lnSpc>
              </a:pPr>
              <a:r>
                <a:rPr lang="en-US" sz="6150" b="1" dirty="0">
                  <a:solidFill>
                    <a:srgbClr val="000000"/>
                  </a:solidFill>
                  <a:latin typeface="Saira Bold"/>
                  <a:ea typeface="Saira Bold"/>
                  <a:cs typeface="Saira Bold"/>
                  <a:sym typeface="Saira Bold"/>
                </a:rPr>
                <a:t>Results</a:t>
              </a:r>
            </a:p>
          </p:txBody>
        </p:sp>
        <p:sp>
          <p:nvSpPr>
            <p:cNvPr id="17" name="TextBox 7">
              <a:extLst>
                <a:ext uri="{FF2B5EF4-FFF2-40B4-BE49-F238E27FC236}">
                  <a16:creationId xmlns:a16="http://schemas.microsoft.com/office/drawing/2014/main" id="{982F8377-A021-D7E5-A870-7B1359A441A4}"/>
                </a:ext>
              </a:extLst>
            </p:cNvPr>
            <p:cNvSpPr txBox="1"/>
            <p:nvPr/>
          </p:nvSpPr>
          <p:spPr>
            <a:xfrm>
              <a:off x="0" y="4910446"/>
              <a:ext cx="12845043" cy="786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550"/>
                </a:lnSpc>
                <a:spcBef>
                  <a:spcPct val="0"/>
                </a:spcBef>
              </a:pPr>
              <a:endParaRPr lang="en-US" sz="3500" dirty="0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3681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112274" y="876300"/>
            <a:ext cx="16063452" cy="696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6600" b="1" dirty="0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AB6BA-BBDA-C24F-17B8-6B83FD32125E}"/>
              </a:ext>
            </a:extLst>
          </p:cNvPr>
          <p:cNvSpPr txBox="1"/>
          <p:nvPr/>
        </p:nvSpPr>
        <p:spPr>
          <a:xfrm>
            <a:off x="1295400" y="2058769"/>
            <a:ext cx="594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1. Multi tenant management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D1B5C7-9476-D37A-B598-3D7A209F5451}"/>
              </a:ext>
            </a:extLst>
          </p:cNvPr>
          <p:cNvSpPr txBox="1"/>
          <p:nvPr/>
        </p:nvSpPr>
        <p:spPr>
          <a:xfrm>
            <a:off x="304800" y="2933700"/>
            <a:ext cx="7924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Architecture Layers: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Implemented clear DDD-based architecture</a:t>
            </a:r>
            <a:r>
              <a:rPr lang="en-US" sz="2800" b="1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Separated Domain – Application – Infrastructure – API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C8AC63-1996-286F-BA3E-4FCFBE84E606}"/>
              </a:ext>
            </a:extLst>
          </p:cNvPr>
          <p:cNvSpPr txBox="1"/>
          <p:nvPr/>
        </p:nvSpPr>
        <p:spPr>
          <a:xfrm>
            <a:off x="304800" y="5537419"/>
            <a:ext cx="7924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Persistence &amp; Migration: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Designed multi-tenant database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Applied EF Core migrations for version control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Ensured data consistency and easy upgrades</a:t>
            </a:r>
            <a:endParaRPr lang="en-US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AFB438-413A-A513-4E2E-B0695E4D0185}"/>
              </a:ext>
            </a:extLst>
          </p:cNvPr>
          <p:cNvSpPr txBox="1"/>
          <p:nvPr/>
        </p:nvSpPr>
        <p:spPr>
          <a:xfrm>
            <a:off x="10058402" y="2933700"/>
            <a:ext cx="79248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Tenant Management Module: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Implemented full endpoints and services for tenant 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Added unit tests for APIs and services.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Added logging and tracking.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8D6CB3-3A4D-9B04-D1DC-881B185DAF93}"/>
              </a:ext>
            </a:extLst>
          </p:cNvPr>
          <p:cNvSpPr txBox="1"/>
          <p:nvPr/>
        </p:nvSpPr>
        <p:spPr>
          <a:xfrm>
            <a:off x="10058402" y="5532656"/>
            <a:ext cx="7924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Role &amp; Permission Module: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Implemented endpoints and service for manage roles, permissions.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Added unit tests.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D6476-CDFC-6451-A804-C2FCD87BCC49}"/>
              </a:ext>
            </a:extLst>
          </p:cNvPr>
          <p:cNvSpPr txBox="1"/>
          <p:nvPr/>
        </p:nvSpPr>
        <p:spPr>
          <a:xfrm>
            <a:off x="304800" y="7870002"/>
            <a:ext cx="7924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Authentication &amp; Authorization: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Implemented JWT, </a:t>
            </a:r>
            <a:r>
              <a:rPr lang="en-US" sz="2800" dirty="0" err="1"/>
              <a:t>Keycloak</a:t>
            </a:r>
            <a:r>
              <a:rPr lang="en-US" sz="2800" dirty="0"/>
              <a:t> service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EECD61-8010-2D30-3115-5BB6583DBA7A}"/>
              </a:ext>
            </a:extLst>
          </p:cNvPr>
          <p:cNvSpPr txBox="1"/>
          <p:nvPr/>
        </p:nvSpPr>
        <p:spPr>
          <a:xfrm>
            <a:off x="10082214" y="7700725"/>
            <a:ext cx="79248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User Management Module: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Created endpoints and services for user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Supported role assignment and access control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Added logging, tracking the object. </a:t>
            </a:r>
          </a:p>
        </p:txBody>
      </p:sp>
    </p:spTree>
    <p:extLst>
      <p:ext uri="{BB962C8B-B14F-4D97-AF65-F5344CB8AC3E}">
        <p14:creationId xmlns:p14="http://schemas.microsoft.com/office/powerpoint/2010/main" val="3168152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112274" y="876300"/>
            <a:ext cx="16063452" cy="696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6600" b="1" dirty="0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AB6BA-BBDA-C24F-17B8-6B83FD32125E}"/>
              </a:ext>
            </a:extLst>
          </p:cNvPr>
          <p:cNvSpPr txBox="1"/>
          <p:nvPr/>
        </p:nvSpPr>
        <p:spPr>
          <a:xfrm>
            <a:off x="1295400" y="2058769"/>
            <a:ext cx="594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2. AI Planning Tool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D1B5C7-9476-D37A-B598-3D7A209F5451}"/>
              </a:ext>
            </a:extLst>
          </p:cNvPr>
          <p:cNvSpPr txBox="1"/>
          <p:nvPr/>
        </p:nvSpPr>
        <p:spPr>
          <a:xfrm>
            <a:off x="304800" y="2933700"/>
            <a:ext cx="7924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Architecture Layers: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Implemented clear DDD-based architecture</a:t>
            </a:r>
            <a:r>
              <a:rPr lang="en-US" sz="2800" b="1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Separated Domain – Application – Infrastructure – API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C8AC63-1996-286F-BA3E-4FCFBE84E606}"/>
              </a:ext>
            </a:extLst>
          </p:cNvPr>
          <p:cNvSpPr txBox="1"/>
          <p:nvPr/>
        </p:nvSpPr>
        <p:spPr>
          <a:xfrm>
            <a:off x="304800" y="5537419"/>
            <a:ext cx="7924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Persistence &amp; Migration: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Designed database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Applied EF Core migrations for version control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Ensured data consistency and easy upgrades</a:t>
            </a:r>
            <a:endParaRPr lang="en-US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AFB438-413A-A513-4E2E-B0695E4D0185}"/>
              </a:ext>
            </a:extLst>
          </p:cNvPr>
          <p:cNvSpPr txBox="1"/>
          <p:nvPr/>
        </p:nvSpPr>
        <p:spPr>
          <a:xfrm>
            <a:off x="10058402" y="2933700"/>
            <a:ext cx="79248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 rtl="0" eaLnBrk="0" fontAlgn="base" latinLnBrk="0" hangingPunct="0">
              <a:spcBef>
                <a:spcPts val="0"/>
              </a:spcBef>
              <a:spcAft>
                <a:spcPts val="0"/>
              </a:spcAft>
            </a:pPr>
            <a:r>
              <a:rPr lang="en-US" sz="2800" b="1" dirty="0"/>
              <a:t>Project Management Module: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Implemented full endpoints and services for project 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Call API from OpenAI for generate task base on project.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8D6CB3-3A4D-9B04-D1DC-881B185DAF93}"/>
              </a:ext>
            </a:extLst>
          </p:cNvPr>
          <p:cNvSpPr txBox="1"/>
          <p:nvPr/>
        </p:nvSpPr>
        <p:spPr>
          <a:xfrm>
            <a:off x="10058402" y="5537419"/>
            <a:ext cx="79248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User, Role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Implemented endpoints and service for manage users, roles.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F06E9D-C7E0-0E10-3272-330D4B3C4420}"/>
              </a:ext>
            </a:extLst>
          </p:cNvPr>
          <p:cNvSpPr txBox="1"/>
          <p:nvPr/>
        </p:nvSpPr>
        <p:spPr>
          <a:xfrm>
            <a:off x="6096002" y="8228231"/>
            <a:ext cx="7924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Authentication &amp; Authorization: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Implemented JWT, </a:t>
            </a:r>
            <a:r>
              <a:rPr lang="en-US" sz="2800" dirty="0" err="1"/>
              <a:t>Keycloak</a:t>
            </a:r>
            <a:r>
              <a:rPr lang="en-US" sz="2800" dirty="0"/>
              <a:t> service</a:t>
            </a:r>
          </a:p>
        </p:txBody>
      </p:sp>
    </p:spTree>
    <p:extLst>
      <p:ext uri="{BB962C8B-B14F-4D97-AF65-F5344CB8AC3E}">
        <p14:creationId xmlns:p14="http://schemas.microsoft.com/office/powerpoint/2010/main" val="12419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4" descr="a yellow paint splotch">
            <a:extLst>
              <a:ext uri="{FF2B5EF4-FFF2-40B4-BE49-F238E27FC236}">
                <a16:creationId xmlns:a16="http://schemas.microsoft.com/office/drawing/2014/main" id="{0E2018A2-7644-4083-7C73-8AD08B131D3C}"/>
              </a:ext>
            </a:extLst>
          </p:cNvPr>
          <p:cNvSpPr/>
          <p:nvPr/>
        </p:nvSpPr>
        <p:spPr>
          <a:xfrm rot="21167577">
            <a:off x="3358160" y="568315"/>
            <a:ext cx="11019023" cy="8160964"/>
          </a:xfrm>
          <a:custGeom>
            <a:avLst/>
            <a:gdLst/>
            <a:ahLst/>
            <a:cxnLst/>
            <a:rect l="l" t="t" r="r" b="b"/>
            <a:pathLst>
              <a:path w="11019023" h="8160964">
                <a:moveTo>
                  <a:pt x="0" y="0"/>
                </a:moveTo>
                <a:lnTo>
                  <a:pt x="11019023" y="0"/>
                </a:lnTo>
                <a:lnTo>
                  <a:pt x="11019023" y="8160964"/>
                </a:lnTo>
                <a:lnTo>
                  <a:pt x="0" y="8160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5" name="Group 5">
            <a:extLst>
              <a:ext uri="{FF2B5EF4-FFF2-40B4-BE49-F238E27FC236}">
                <a16:creationId xmlns:a16="http://schemas.microsoft.com/office/drawing/2014/main" id="{E8189463-76F8-A38E-1400-0773413FDEEA}"/>
              </a:ext>
            </a:extLst>
          </p:cNvPr>
          <p:cNvGrpSpPr/>
          <p:nvPr/>
        </p:nvGrpSpPr>
        <p:grpSpPr>
          <a:xfrm>
            <a:off x="4327109" y="4648797"/>
            <a:ext cx="9633782" cy="4279883"/>
            <a:chOff x="0" y="-9525"/>
            <a:chExt cx="12845043" cy="5706511"/>
          </a:xfrm>
        </p:grpSpPr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211E5429-4809-70E7-D2C6-DEF1D138C6CF}"/>
                </a:ext>
              </a:extLst>
            </p:cNvPr>
            <p:cNvSpPr txBox="1"/>
            <p:nvPr/>
          </p:nvSpPr>
          <p:spPr>
            <a:xfrm>
              <a:off x="0" y="-9525"/>
              <a:ext cx="12845043" cy="1265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380"/>
                </a:lnSpc>
              </a:pPr>
              <a:r>
                <a:rPr lang="en-US" sz="6150" b="1" dirty="0">
                  <a:solidFill>
                    <a:srgbClr val="000000"/>
                  </a:solidFill>
                  <a:latin typeface="Saira Bold"/>
                  <a:ea typeface="Saira Bold"/>
                  <a:cs typeface="Saira Bold"/>
                  <a:sym typeface="Saira Bold"/>
                </a:rPr>
                <a:t>Lessons Learnt</a:t>
              </a:r>
            </a:p>
          </p:txBody>
        </p:sp>
        <p:sp>
          <p:nvSpPr>
            <p:cNvPr id="17" name="TextBox 7">
              <a:extLst>
                <a:ext uri="{FF2B5EF4-FFF2-40B4-BE49-F238E27FC236}">
                  <a16:creationId xmlns:a16="http://schemas.microsoft.com/office/drawing/2014/main" id="{982F8377-A021-D7E5-A870-7B1359A441A4}"/>
                </a:ext>
              </a:extLst>
            </p:cNvPr>
            <p:cNvSpPr txBox="1"/>
            <p:nvPr/>
          </p:nvSpPr>
          <p:spPr>
            <a:xfrm>
              <a:off x="0" y="4910446"/>
              <a:ext cx="12845043" cy="786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550"/>
                </a:lnSpc>
                <a:spcBef>
                  <a:spcPct val="0"/>
                </a:spcBef>
              </a:pPr>
              <a:endParaRPr lang="en-US" sz="3500" dirty="0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2099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112274" y="876300"/>
            <a:ext cx="16063452" cy="696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6600" b="1" dirty="0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Lesson learnt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74B5A4-FCC9-0260-1387-C34C0560D061}"/>
              </a:ext>
            </a:extLst>
          </p:cNvPr>
          <p:cNvSpPr txBox="1"/>
          <p:nvPr/>
        </p:nvSpPr>
        <p:spPr>
          <a:xfrm>
            <a:off x="1909916" y="2400300"/>
            <a:ext cx="1526581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Applied real-world development practices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Improved system design and problem-solving skills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Learned how projects are planned, developed, and delivered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Experienced working with requirements, testing.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Learned to analyze problems and find practical solutions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Improved debugging and troubleshooting skills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Collaborated with team members and mentors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Adapted to a real working environment</a:t>
            </a:r>
          </a:p>
          <a:p>
            <a:pPr marL="285750" indent="-285750" eaLnBrk="0" fontAlgn="base" hangingPunct="0">
              <a:buFont typeface="Arial" panose="020B0604020202020204" pitchFamily="34" charset="0"/>
              <a:buChar char="•"/>
            </a:pPr>
            <a:r>
              <a:rPr lang="en-US" sz="2800" dirty="0"/>
              <a:t>Developed responsibility and self-learning mindset 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Used Git for source code management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Worked with branching strategies (feature, develop, main)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Performed pull requests, code reviews, and conflict resolution</a:t>
            </a:r>
          </a:p>
          <a:p>
            <a:pPr marL="285750" marR="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800" dirty="0">
              <a:effectLst/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524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390" t="-37988" r="-13390" b="-1485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959964" y="2285002"/>
            <a:ext cx="14368071" cy="5716996"/>
            <a:chOff x="0" y="0"/>
            <a:chExt cx="7380650" cy="2936730"/>
          </a:xfrm>
        </p:grpSpPr>
        <p:sp>
          <p:nvSpPr>
            <p:cNvPr id="4" name="Freeform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7380650" cy="2936730"/>
            </a:xfrm>
            <a:custGeom>
              <a:avLst/>
              <a:gdLst/>
              <a:ahLst/>
              <a:cxnLst/>
              <a:rect l="l" t="t" r="r" b="b"/>
              <a:pathLst>
                <a:path w="7380650" h="2936730">
                  <a:moveTo>
                    <a:pt x="0" y="0"/>
                  </a:moveTo>
                  <a:lnTo>
                    <a:pt x="0" y="2936730"/>
                  </a:lnTo>
                  <a:lnTo>
                    <a:pt x="7380650" y="2936730"/>
                  </a:lnTo>
                  <a:lnTo>
                    <a:pt x="7380650" y="0"/>
                  </a:lnTo>
                  <a:lnTo>
                    <a:pt x="0" y="0"/>
                  </a:lnTo>
                  <a:close/>
                  <a:moveTo>
                    <a:pt x="7319690" y="2875770"/>
                  </a:moveTo>
                  <a:lnTo>
                    <a:pt x="59690" y="2875770"/>
                  </a:lnTo>
                  <a:lnTo>
                    <a:pt x="59690" y="59690"/>
                  </a:lnTo>
                  <a:lnTo>
                    <a:pt x="7319690" y="59690"/>
                  </a:lnTo>
                  <a:lnTo>
                    <a:pt x="7319690" y="287577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4487000" y="3731310"/>
            <a:ext cx="9314000" cy="3393692"/>
            <a:chOff x="0" y="-85735"/>
            <a:chExt cx="12418667" cy="4524922"/>
          </a:xfrm>
        </p:grpSpPr>
        <p:sp>
          <p:nvSpPr>
            <p:cNvPr id="6" name="TextBox 6"/>
            <p:cNvSpPr txBox="1"/>
            <p:nvPr/>
          </p:nvSpPr>
          <p:spPr>
            <a:xfrm>
              <a:off x="0" y="-85735"/>
              <a:ext cx="12418667" cy="21373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480"/>
                </a:lnSpc>
              </a:pPr>
              <a:r>
                <a:rPr lang="en-US" sz="9600" b="1" dirty="0">
                  <a:solidFill>
                    <a:srgbClr val="000000"/>
                  </a:solidFill>
                  <a:latin typeface="Saira Bold"/>
                  <a:ea typeface="Saira Bold"/>
                  <a:cs typeface="Saira Bold"/>
                  <a:sym typeface="Saira Bold"/>
                </a:rPr>
                <a:t>Thank you!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091537"/>
              <a:ext cx="12418667" cy="2347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50"/>
                </a:lnSpc>
              </a:pPr>
              <a:r>
                <a:rPr lang="en-US" sz="3600" dirty="0"/>
                <a:t>I am truly grateful for the opportunity to learn, grow, and gain valuable experience during my internship.</a:t>
              </a:r>
              <a:endParaRPr lang="en-US" sz="3500" dirty="0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522</Words>
  <Application>Microsoft Office PowerPoint</Application>
  <PresentationFormat>Custom</PresentationFormat>
  <Paragraphs>115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Saira Bold</vt:lpstr>
      <vt:lpstr>Saira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thuyết trình Mẫu Nét cọ màu sắc</dc:title>
  <cp:lastModifiedBy>Kiet Nguyen</cp:lastModifiedBy>
  <cp:revision>18</cp:revision>
  <dcterms:created xsi:type="dcterms:W3CDTF">2006-08-16T00:00:00Z</dcterms:created>
  <dcterms:modified xsi:type="dcterms:W3CDTF">2026-04-06T03:22:09Z</dcterms:modified>
  <dc:identifier>DAHGCTNhP40</dc:identifier>
</cp:coreProperties>
</file>